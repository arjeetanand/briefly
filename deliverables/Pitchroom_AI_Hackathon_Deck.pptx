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1"/>
  </p:normalViewPr>
  <p:slideViewPr>
    <p:cSldViewPr snapToGrid="0">
      <p:cViewPr varScale="1">
        <p:scale>
          <a:sx n="115" d="100"/>
          <a:sy n="115" d="100"/>
        </p:scale>
        <p:origin x="6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backend/data/pitch.txt. Cover statement reflects the current prototype description.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backend/data/pitch.txt; backend/test_app.py. The Series B valuation example is an existing unsupported-answer test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frontend/app.py, backend/routes/pitch.py, docs/architecture.md, docs/audit/01-live-home.png. Screenshot is a local audit capture of the current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backend/data/pitch.txt; backend/routes/pitch.py; docs/architecture.md; README.md. The slide distinguishes actual current behavior from scope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frontend/app.py, backend/routes/pitch.py, backend/test_app.py, README.md. This is a proposed demo sequence using existing demo controls and tested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backend/data/pitch.txt; docs/architecture.md. The right column is explicitly proposed roadmap work. Authenticated workspaces, versioning, and encrypted storage are named future extensions in the supplied brief; visual document understanding addresses documented current exclusions.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78972A71-FDCF-4699-A50E-BF2A0159DB58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820400" cy="0"/>
          </a:xfrm>
          <a:prstGeom prst="line">
            <a:avLst/>
          </a:prstGeom>
          <a:noFill/>
          <a:ln w="9525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lide-1-brand">
            <a:extLst>
              <a:ext uri="{FF2B5EF4-FFF2-40B4-BE49-F238E27FC236}">
                <a16:creationId xmlns:a16="http://schemas.microsoft.com/office/drawing/2014/main" id="{01D0029C-38C8-4810-9AD8-65F080B81079}"/>
              </a:ext>
            </a:extLst>
          </p:cNvPr>
          <p:cNvSpPr>
            <a:spLocks noGrp="1"/>
          </p:cNvSpPr>
          <p:nvPr/>
        </p:nvSpPr>
        <p:spPr>
          <a:xfrm>
            <a:off x="685800" y="20955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0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rPr>
              <a:t>PITCHROOM AI</a:t>
            </a:r>
          </a:p>
        </p:txBody>
      </p:sp>
      <p:sp>
        <p:nvSpPr>
          <p:cNvPr id="3" name="slide-1-folio">
            <a:extLst>
              <a:ext uri="{FF2B5EF4-FFF2-40B4-BE49-F238E27FC236}">
                <a16:creationId xmlns:a16="http://schemas.microsoft.com/office/drawing/2014/main" id="{EACBFC84-2369-4D2D-8C16-9A25DB6A3B86}"/>
              </a:ext>
            </a:extLst>
          </p:cNvPr>
          <p:cNvSpPr>
            <a:spLocks noGrp="1"/>
          </p:cNvSpPr>
          <p:nvPr/>
        </p:nvSpPr>
        <p:spPr>
          <a:xfrm>
            <a:off x="10810875" y="209550"/>
            <a:ext cx="6953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1">
                <a:solidFill>
                  <a:srgbClr val="717A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7A9E"/>
                </a:solidFill>
                <a:latin typeface="Helvetica Neue"/>
                <a:ea typeface="Helvetica Neue"/>
                <a:cs typeface="Helvetica Neue"/>
              </a:rPr>
              <a:t>01 / 06</a:t>
            </a:r>
          </a:p>
        </p:txBody>
      </p:sp>
      <p:sp>
        <p:nvSpPr>
          <p:cNvPr id="4" name="cover-kicker">
            <a:extLst>
              <a:ext uri="{FF2B5EF4-FFF2-40B4-BE49-F238E27FC236}">
                <a16:creationId xmlns:a16="http://schemas.microsoft.com/office/drawing/2014/main" id="{322DDA10-7DC8-42B0-9AF9-984420AF441A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A6E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6E8FF"/>
                </a:solidFill>
                <a:latin typeface="Helvetica Neue"/>
                <a:ea typeface="Helvetica Neue"/>
                <a:cs typeface="Helvetica Neue"/>
              </a:rPr>
              <a:t>VOICE-FIRST PITCH REHEARSAL</a:t>
            </a:r>
          </a:p>
        </p:txBody>
      </p:sp>
      <p:sp>
        <p:nvSpPr>
          <p:cNvPr id="5" name="cover-title">
            <a:extLst>
              <a:ext uri="{FF2B5EF4-FFF2-40B4-BE49-F238E27FC236}">
                <a16:creationId xmlns:a16="http://schemas.microsoft.com/office/drawing/2014/main" id="{AA36E24A-843C-4415-AAD1-DF0CB887A0D1}"/>
              </a:ext>
            </a:extLst>
          </p:cNvPr>
          <p:cNvSpPr>
            <a:spLocks noGrp="1"/>
          </p:cNvSpPr>
          <p:nvPr/>
        </p:nvSpPr>
        <p:spPr>
          <a:xfrm>
            <a:off x="685800" y="1685925"/>
            <a:ext cx="6191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49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Every answer,</a:t>
            </a:r>
          </a:p>
          <a:p>
            <a:pPr algn="l">
              <a:defRPr sz="49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from the deck.</a:t>
            </a:r>
          </a:p>
        </p:txBody>
      </p:sp>
      <p:sp>
        <p:nvSpPr>
          <p:cNvPr id="6" name="cover-subtitle">
            <a:extLst>
              <a:ext uri="{FF2B5EF4-FFF2-40B4-BE49-F238E27FC236}">
                <a16:creationId xmlns:a16="http://schemas.microsoft.com/office/drawing/2014/main" id="{9E1B22FC-2CA0-4D0D-9E53-8D364172A02A}"/>
              </a:ext>
            </a:extLst>
          </p:cNvPr>
          <p:cNvSpPr>
            <a:spLocks noGrp="1"/>
          </p:cNvSpPr>
          <p:nvPr/>
        </p:nvSpPr>
        <p:spPr>
          <a:xfrm>
            <a:off x="723900" y="3724275"/>
            <a:ext cx="5238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A source-grounded, voice-first pitch rehearsal assistant for founder-led startup teams.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C42B96B8-8B19-4933-9B78-ADF2BD4548A3}"/>
              </a:ext>
            </a:extLst>
          </p:cNvPr>
          <p:cNvSpPr>
            <a:spLocks noGrp="1"/>
          </p:cNvSpPr>
          <p:nvPr/>
        </p:nvSpPr>
        <p:spPr>
          <a:xfrm>
            <a:off x="7667625" y="2266950"/>
            <a:ext cx="0" cy="1962150"/>
          </a:xfrm>
          <a:prstGeom prst="line">
            <a:avLst/>
          </a:prstGeom>
          <a:noFill/>
          <a:ln w="19050">
            <a:solidFill>
              <a:srgbClr val="2834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7FEE797-81CB-4306-9DFB-99974195CFA0}"/>
              </a:ext>
            </a:extLst>
          </p:cNvPr>
          <p:cNvSpPr>
            <a:spLocks noGrp="1"/>
          </p:cNvSpPr>
          <p:nvPr/>
        </p:nvSpPr>
        <p:spPr>
          <a:xfrm>
            <a:off x="7486650" y="2228850"/>
            <a:ext cx="361950" cy="361950"/>
          </a:xfrm>
          <a:prstGeom prst="ellipse">
            <a:avLst/>
          </a:prstGeom>
          <a:solidFill>
            <a:srgbClr val="7D91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cover-node-1-heading">
            <a:extLst>
              <a:ext uri="{FF2B5EF4-FFF2-40B4-BE49-F238E27FC236}">
                <a16:creationId xmlns:a16="http://schemas.microsoft.com/office/drawing/2014/main" id="{9A1EAD85-59E3-4908-9404-DA69602FAD61}"/>
              </a:ext>
            </a:extLst>
          </p:cNvPr>
          <p:cNvSpPr>
            <a:spLocks noGrp="1"/>
          </p:cNvSpPr>
          <p:nvPr/>
        </p:nvSpPr>
        <p:spPr>
          <a:xfrm>
            <a:off x="8096250" y="225742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72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Approved pitch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AAD61EF-4A95-4514-8E90-8B669EAC6F0E}"/>
              </a:ext>
            </a:extLst>
          </p:cNvPr>
          <p:cNvSpPr>
            <a:spLocks noGrp="1"/>
          </p:cNvSpPr>
          <p:nvPr/>
        </p:nvSpPr>
        <p:spPr>
          <a:xfrm>
            <a:off x="7486650" y="3143250"/>
            <a:ext cx="361950" cy="361950"/>
          </a:xfrm>
          <a:prstGeom prst="ellipse">
            <a:avLst/>
          </a:prstGeom>
          <a:solidFill>
            <a:srgbClr val="A1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over-node-2-heading">
            <a:extLst>
              <a:ext uri="{FF2B5EF4-FFF2-40B4-BE49-F238E27FC236}">
                <a16:creationId xmlns:a16="http://schemas.microsoft.com/office/drawing/2014/main" id="{F9FD61BA-558B-4CE9-B470-E2DF688FBB15}"/>
              </a:ext>
            </a:extLst>
          </p:cNvPr>
          <p:cNvSpPr>
            <a:spLocks noGrp="1"/>
          </p:cNvSpPr>
          <p:nvPr/>
        </p:nvSpPr>
        <p:spPr>
          <a:xfrm>
            <a:off x="8096250" y="317182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72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Recorded question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28D19F1-16FE-471F-A9E5-2E3847B8E054}"/>
              </a:ext>
            </a:extLst>
          </p:cNvPr>
          <p:cNvSpPr>
            <a:spLocks noGrp="1"/>
          </p:cNvSpPr>
          <p:nvPr/>
        </p:nvSpPr>
        <p:spPr>
          <a:xfrm>
            <a:off x="7486650" y="4057650"/>
            <a:ext cx="361950" cy="361950"/>
          </a:xfrm>
          <a:prstGeom prst="ellipse">
            <a:avLst/>
          </a:prstGeom>
          <a:solidFill>
            <a:srgbClr val="91EBD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cover-node-3-heading">
            <a:extLst>
              <a:ext uri="{FF2B5EF4-FFF2-40B4-BE49-F238E27FC236}">
                <a16:creationId xmlns:a16="http://schemas.microsoft.com/office/drawing/2014/main" id="{5B02C4FF-C433-44A4-820D-B80610BB664B}"/>
              </a:ext>
            </a:extLst>
          </p:cNvPr>
          <p:cNvSpPr>
            <a:spLocks noGrp="1"/>
          </p:cNvSpPr>
          <p:nvPr/>
        </p:nvSpPr>
        <p:spPr>
          <a:xfrm>
            <a:off x="8096250" y="408622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72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Grounded response</a:t>
            </a:r>
          </a:p>
        </p:txBody>
      </p:sp>
    </p:spTree>
    <p:extLst>
      <p:ext uri="{BB962C8B-B14F-4D97-AF65-F5344CB8AC3E}">
        <p14:creationId xmlns:p14="http://schemas.microsoft.com/office/powerpoint/2010/main" val="185683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8EE5A6F5-C6CB-463E-AEBB-E222ADAFD5AF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820400" cy="0"/>
          </a:xfrm>
          <a:prstGeom prst="line">
            <a:avLst/>
          </a:prstGeom>
          <a:noFill/>
          <a:ln w="9525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lide-2-brand">
            <a:extLst>
              <a:ext uri="{FF2B5EF4-FFF2-40B4-BE49-F238E27FC236}">
                <a16:creationId xmlns:a16="http://schemas.microsoft.com/office/drawing/2014/main" id="{1CD866D2-2633-428A-8C30-70F979DA5CF3}"/>
              </a:ext>
            </a:extLst>
          </p:cNvPr>
          <p:cNvSpPr>
            <a:spLocks noGrp="1"/>
          </p:cNvSpPr>
          <p:nvPr/>
        </p:nvSpPr>
        <p:spPr>
          <a:xfrm>
            <a:off x="685800" y="20955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0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rPr>
              <a:t>PITCHROOM AI</a:t>
            </a:r>
          </a:p>
        </p:txBody>
      </p:sp>
      <p:sp>
        <p:nvSpPr>
          <p:cNvPr id="3" name="slide-2-folio">
            <a:extLst>
              <a:ext uri="{FF2B5EF4-FFF2-40B4-BE49-F238E27FC236}">
                <a16:creationId xmlns:a16="http://schemas.microsoft.com/office/drawing/2014/main" id="{25D617C4-0D77-4DF1-97EA-E4FF168B7E09}"/>
              </a:ext>
            </a:extLst>
          </p:cNvPr>
          <p:cNvSpPr>
            <a:spLocks noGrp="1"/>
          </p:cNvSpPr>
          <p:nvPr/>
        </p:nvSpPr>
        <p:spPr>
          <a:xfrm>
            <a:off x="10810875" y="209550"/>
            <a:ext cx="6953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1">
                <a:solidFill>
                  <a:srgbClr val="717A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7A9E"/>
                </a:solidFill>
                <a:latin typeface="Helvetica Neue"/>
                <a:ea typeface="Helvetica Neue"/>
                <a:cs typeface="Helvetica Neue"/>
              </a:rPr>
              <a:t>02 / 06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DA9AF000-76FB-4548-A031-3CA9B05ACDE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34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Static decks break under live questions</a:t>
            </a: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46854137-56D6-41BD-B363-48D9BD4E8E29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Pitch decks set a prepared narrative. They do not help founders answer unexpected questions in the room</a:t>
            </a:r>
          </a:p>
        </p:txBody>
      </p:sp>
      <p:sp>
        <p:nvSpPr>
          <p:cNvPr id="6" name="problem-intro">
            <a:extLst>
              <a:ext uri="{FF2B5EF4-FFF2-40B4-BE49-F238E27FC236}">
                <a16:creationId xmlns:a16="http://schemas.microsoft.com/office/drawing/2014/main" id="{2AD72F8F-63BA-4B97-A925-74BC2D119146}"/>
              </a:ext>
            </a:extLst>
          </p:cNvPr>
          <p:cNvSpPr>
            <a:spLocks noGrp="1"/>
          </p:cNvSpPr>
          <p:nvPr/>
        </p:nvSpPr>
        <p:spPr>
          <a:xfrm>
            <a:off x="685800" y="2295525"/>
            <a:ext cx="4876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D5DA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5DAF5"/>
                </a:solidFill>
                <a:latin typeface="Helvetica Neue"/>
                <a:ea typeface="Helvetica Neue"/>
                <a:cs typeface="Helvetica Neue"/>
              </a:rPr>
              <a:t>When a question arrives, founders often choose between: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DB17B5-9734-4360-8BCF-BDCFF05B6BCE}"/>
              </a:ext>
            </a:extLst>
          </p:cNvPr>
          <p:cNvSpPr>
            <a:spLocks noGrp="1"/>
          </p:cNvSpPr>
          <p:nvPr/>
        </p:nvSpPr>
        <p:spPr>
          <a:xfrm>
            <a:off x="685800" y="2990850"/>
            <a:ext cx="66675" cy="381000"/>
          </a:xfrm>
          <a:prstGeom prst="rect">
            <a:avLst/>
          </a:prstGeom>
          <a:solidFill>
            <a:srgbClr val="FFB4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problem-search-heading">
            <a:extLst>
              <a:ext uri="{FF2B5EF4-FFF2-40B4-BE49-F238E27FC236}">
                <a16:creationId xmlns:a16="http://schemas.microsoft.com/office/drawing/2014/main" id="{29D7944B-F971-4444-92E4-6C92A500DDD2}"/>
              </a:ext>
            </a:extLst>
          </p:cNvPr>
          <p:cNvSpPr>
            <a:spLocks noGrp="1"/>
          </p:cNvSpPr>
          <p:nvPr/>
        </p:nvSpPr>
        <p:spPr>
          <a:xfrm>
            <a:off x="952500" y="2943225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Searching across slides</a:t>
            </a:r>
          </a:p>
        </p:txBody>
      </p:sp>
      <p:sp>
        <p:nvSpPr>
          <p:cNvPr id="9" name="problem-search-body">
            <a:extLst>
              <a:ext uri="{FF2B5EF4-FFF2-40B4-BE49-F238E27FC236}">
                <a16:creationId xmlns:a16="http://schemas.microsoft.com/office/drawing/2014/main" id="{BEA80EF9-DBFA-42AB-BC21-A03328510ACB}"/>
              </a:ext>
            </a:extLst>
          </p:cNvPr>
          <p:cNvSpPr>
            <a:spLocks noGrp="1"/>
          </p:cNvSpPr>
          <p:nvPr/>
        </p:nvSpPr>
        <p:spPr>
          <a:xfrm>
            <a:off x="952500" y="3343275"/>
            <a:ext cx="4286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The room waits while the founder looks for the approved detail.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B6D7F6-6CEA-46F2-89FE-39EA96A944AF}"/>
              </a:ext>
            </a:extLst>
          </p:cNvPr>
          <p:cNvSpPr>
            <a:spLocks noGrp="1"/>
          </p:cNvSpPr>
          <p:nvPr/>
        </p:nvSpPr>
        <p:spPr>
          <a:xfrm>
            <a:off x="685800" y="4295775"/>
            <a:ext cx="66675" cy="381000"/>
          </a:xfrm>
          <a:prstGeom prst="rect">
            <a:avLst/>
          </a:prstGeom>
          <a:solidFill>
            <a:srgbClr val="FFB4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roblem-improv-heading">
            <a:extLst>
              <a:ext uri="{FF2B5EF4-FFF2-40B4-BE49-F238E27FC236}">
                <a16:creationId xmlns:a16="http://schemas.microsoft.com/office/drawing/2014/main" id="{75C8282F-98BB-4FDD-BB0B-C40522A5E78B}"/>
              </a:ext>
            </a:extLst>
          </p:cNvPr>
          <p:cNvSpPr>
            <a:spLocks noGrp="1"/>
          </p:cNvSpPr>
          <p:nvPr/>
        </p:nvSpPr>
        <p:spPr>
          <a:xfrm>
            <a:off x="952500" y="42481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Improvising an answer</a:t>
            </a:r>
          </a:p>
        </p:txBody>
      </p:sp>
      <p:sp>
        <p:nvSpPr>
          <p:cNvPr id="12" name="problem-improv-body">
            <a:extLst>
              <a:ext uri="{FF2B5EF4-FFF2-40B4-BE49-F238E27FC236}">
                <a16:creationId xmlns:a16="http://schemas.microsoft.com/office/drawing/2014/main" id="{5034D59B-31EB-44FC-8DAF-3CCEF5D2D650}"/>
              </a:ext>
            </a:extLst>
          </p:cNvPr>
          <p:cNvSpPr>
            <a:spLocks noGrp="1"/>
          </p:cNvSpPr>
          <p:nvPr/>
        </p:nvSpPr>
        <p:spPr>
          <a:xfrm>
            <a:off x="952500" y="4648200"/>
            <a:ext cx="4286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A claim can leave the approved pitch without anyone noticing.</a:t>
            </a:r>
          </a:p>
        </p:txBody>
      </p:sp>
      <p:sp>
        <p:nvSpPr>
          <p:cNvPr id="13" name="problem-question-surface">
            <a:extLst>
              <a:ext uri="{FF2B5EF4-FFF2-40B4-BE49-F238E27FC236}">
                <a16:creationId xmlns:a16="http://schemas.microsoft.com/office/drawing/2014/main" id="{3FD4ED05-BE84-4875-B40C-586CF3875FF1}"/>
              </a:ext>
            </a:extLst>
          </p:cNvPr>
          <p:cNvSpPr>
            <a:spLocks noGrp="1"/>
          </p:cNvSpPr>
          <p:nvPr/>
        </p:nvSpPr>
        <p:spPr>
          <a:xfrm>
            <a:off x="6191250" y="2266950"/>
            <a:ext cx="4629150" cy="2838450"/>
          </a:xfrm>
          <a:prstGeom prst="roundRect">
            <a:avLst>
              <a:gd name="adj" fmla="val 5369"/>
            </a:avLst>
          </a:prstGeom>
          <a:solidFill>
            <a:srgbClr val="0D1228"/>
          </a:solidFill>
          <a:ln w="9525">
            <a:solidFill>
              <a:srgbClr val="2834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problem-question-kicker">
            <a:extLst>
              <a:ext uri="{FF2B5EF4-FFF2-40B4-BE49-F238E27FC236}">
                <a16:creationId xmlns:a16="http://schemas.microsoft.com/office/drawing/2014/main" id="{A0180882-C15A-4AB6-9436-DBCF4C2A1572}"/>
              </a:ext>
            </a:extLst>
          </p:cNvPr>
          <p:cNvSpPr>
            <a:spLocks noGrp="1"/>
          </p:cNvSpPr>
          <p:nvPr/>
        </p:nvSpPr>
        <p:spPr>
          <a:xfrm>
            <a:off x="6591300" y="2619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1">
                <a:solidFill>
                  <a:srgbClr val="A1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18DFF"/>
                </a:solidFill>
                <a:latin typeface="Helvetica Neue"/>
                <a:ea typeface="Helvetica Neue"/>
                <a:cs typeface="Helvetica Neue"/>
              </a:rPr>
              <a:t>A live question</a:t>
            </a:r>
          </a:p>
        </p:txBody>
      </p:sp>
      <p:sp>
        <p:nvSpPr>
          <p:cNvPr id="15" name="problem-question">
            <a:extLst>
              <a:ext uri="{FF2B5EF4-FFF2-40B4-BE49-F238E27FC236}">
                <a16:creationId xmlns:a16="http://schemas.microsoft.com/office/drawing/2014/main" id="{39A94DFF-F7BD-45AB-B63B-911EBDA6DDFF}"/>
              </a:ext>
            </a:extLst>
          </p:cNvPr>
          <p:cNvSpPr>
            <a:spLocks noGrp="1"/>
          </p:cNvSpPr>
          <p:nvPr/>
        </p:nvSpPr>
        <p:spPr>
          <a:xfrm>
            <a:off x="6591300" y="3114675"/>
            <a:ext cx="3619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62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“What is the Series B</a:t>
            </a:r>
          </a:p>
          <a:p>
            <a:pPr algn="l">
              <a:defRPr sz="262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valuation?”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37FD80B5-1143-4F9E-BACC-36093C63B6C4}"/>
              </a:ext>
            </a:extLst>
          </p:cNvPr>
          <p:cNvSpPr>
            <a:spLocks noGrp="1"/>
          </p:cNvSpPr>
          <p:nvPr/>
        </p:nvSpPr>
        <p:spPr>
          <a:xfrm>
            <a:off x="6591300" y="4029075"/>
            <a:ext cx="3429000" cy="0"/>
          </a:xfrm>
          <a:prstGeom prst="line">
            <a:avLst/>
          </a:prstGeom>
          <a:noFill/>
          <a:ln w="9525">
            <a:solidFill>
              <a:srgbClr val="2834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problem-resolution">
            <a:extLst>
              <a:ext uri="{FF2B5EF4-FFF2-40B4-BE49-F238E27FC236}">
                <a16:creationId xmlns:a16="http://schemas.microsoft.com/office/drawing/2014/main" id="{2EB09FC0-7D90-4E37-BF6E-1FE77D802FF9}"/>
              </a:ext>
            </a:extLst>
          </p:cNvPr>
          <p:cNvSpPr>
            <a:spLocks noGrp="1"/>
          </p:cNvSpPr>
          <p:nvPr/>
        </p:nvSpPr>
        <p:spPr>
          <a:xfrm>
            <a:off x="6591300" y="4257675"/>
            <a:ext cx="3581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0">
                <a:solidFill>
                  <a:srgbClr val="91EB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91EBD4"/>
                </a:solidFill>
                <a:latin typeface="Helvetica Neue"/>
                <a:ea typeface="Helvetica Neue"/>
                <a:cs typeface="Helvetica Neue"/>
              </a:rPr>
              <a:t>Pitchroom keeps the answer inside the approved source.</a:t>
            </a:r>
          </a:p>
        </p:txBody>
      </p:sp>
      <p:sp>
        <p:nvSpPr>
          <p:cNvPr id="18" name="problem-boundary">
            <a:extLst>
              <a:ext uri="{FF2B5EF4-FFF2-40B4-BE49-F238E27FC236}">
                <a16:creationId xmlns:a16="http://schemas.microsoft.com/office/drawing/2014/main" id="{137C1E26-04A1-43FA-AC2F-1FA9F66D3128}"/>
              </a:ext>
            </a:extLst>
          </p:cNvPr>
          <p:cNvSpPr>
            <a:spLocks noGrp="1"/>
          </p:cNvSpPr>
          <p:nvPr/>
        </p:nvSpPr>
        <p:spPr>
          <a:xfrm>
            <a:off x="6191250" y="55626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717A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17A9E"/>
                </a:solidFill>
                <a:latin typeface="Helvetica Neue"/>
                <a:ea typeface="Helvetica Neue"/>
                <a:cs typeface="Helvetica Neue"/>
              </a:rPr>
              <a:t>The product declines when the source cannot support an answer.</a:t>
            </a:r>
          </a:p>
        </p:txBody>
      </p:sp>
    </p:spTree>
    <p:extLst>
      <p:ext uri="{BB962C8B-B14F-4D97-AF65-F5344CB8AC3E}">
        <p14:creationId xmlns:p14="http://schemas.microsoft.com/office/powerpoint/2010/main" val="1570027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8E21EF25-7FB8-428A-9364-77EBD80E7028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820400" cy="0"/>
          </a:xfrm>
          <a:prstGeom prst="line">
            <a:avLst/>
          </a:prstGeom>
          <a:noFill/>
          <a:ln w="9525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lide-3-brand">
            <a:extLst>
              <a:ext uri="{FF2B5EF4-FFF2-40B4-BE49-F238E27FC236}">
                <a16:creationId xmlns:a16="http://schemas.microsoft.com/office/drawing/2014/main" id="{4190E20F-5AD7-4027-BD16-B1B927F8139D}"/>
              </a:ext>
            </a:extLst>
          </p:cNvPr>
          <p:cNvSpPr>
            <a:spLocks noGrp="1"/>
          </p:cNvSpPr>
          <p:nvPr/>
        </p:nvSpPr>
        <p:spPr>
          <a:xfrm>
            <a:off x="685800" y="20955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0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rPr>
              <a:t>PITCHROOM AI</a:t>
            </a:r>
          </a:p>
        </p:txBody>
      </p:sp>
      <p:sp>
        <p:nvSpPr>
          <p:cNvPr id="3" name="slide-3-folio">
            <a:extLst>
              <a:ext uri="{FF2B5EF4-FFF2-40B4-BE49-F238E27FC236}">
                <a16:creationId xmlns:a16="http://schemas.microsoft.com/office/drawing/2014/main" id="{684E0DFD-1287-4748-9450-5EADAEFEE952}"/>
              </a:ext>
            </a:extLst>
          </p:cNvPr>
          <p:cNvSpPr>
            <a:spLocks noGrp="1"/>
          </p:cNvSpPr>
          <p:nvPr/>
        </p:nvSpPr>
        <p:spPr>
          <a:xfrm>
            <a:off x="10810875" y="209550"/>
            <a:ext cx="6953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1">
                <a:solidFill>
                  <a:srgbClr val="717A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7A9E"/>
                </a:solidFill>
                <a:latin typeface="Helvetica Neue"/>
                <a:ea typeface="Helvetica Neue"/>
                <a:cs typeface="Helvetica Neue"/>
              </a:rPr>
              <a:t>03 / 06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D12F9D8B-A4E0-4B0B-A8AD-CCA86FC196B9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34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Recorded-turn voice workflow</a:t>
            </a: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C5767F52-405E-4390-839E-44DD09BA5823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Pitchroom turns an approved pitch into a controlled answer loop</a:t>
            </a:r>
          </a:p>
        </p:txBody>
      </p:sp>
      <p:sp>
        <p:nvSpPr>
          <p:cNvPr id="6" name="product-screenshot-frame">
            <a:extLst>
              <a:ext uri="{FF2B5EF4-FFF2-40B4-BE49-F238E27FC236}">
                <a16:creationId xmlns:a16="http://schemas.microsoft.com/office/drawing/2014/main" id="{1E97E9FF-BFE5-431F-8AD4-509A12623682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4838700" cy="3276600"/>
          </a:xfrm>
          <a:prstGeom prst="roundRect">
            <a:avLst>
              <a:gd name="adj" fmla="val 4651"/>
            </a:avLst>
          </a:prstGeom>
          <a:solidFill>
            <a:srgbClr val="0D1228"/>
          </a:solidFill>
          <a:ln w="9525">
            <a:solidFill>
              <a:srgbClr val="2834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rcRect t="1806" b="1806"/>
          <a:stretch>
            <a:fillRect/>
          </a:stretch>
        </p:blipFill>
        <p:spPr>
          <a:xfrm>
            <a:off x="742950" y="2190750"/>
            <a:ext cx="4724400" cy="3162300"/>
          </a:xfrm>
          <a:prstGeom prst="roundRect">
            <a:avLst>
              <a:gd name="adj" fmla="val 3614"/>
            </a:avLst>
          </a:prstGeom>
        </p:spPr>
      </p:pic>
      <p:sp>
        <p:nvSpPr>
          <p:cNvPr id="8" name="product-ui-label">
            <a:extLst>
              <a:ext uri="{FF2B5EF4-FFF2-40B4-BE49-F238E27FC236}">
                <a16:creationId xmlns:a16="http://schemas.microsoft.com/office/drawing/2014/main" id="{C289B8BC-1D8C-4135-A8DF-972C8B1E4088}"/>
              </a:ext>
            </a:extLst>
          </p:cNvPr>
          <p:cNvSpPr>
            <a:spLocks noGrp="1"/>
          </p:cNvSpPr>
          <p:nvPr/>
        </p:nvSpPr>
        <p:spPr>
          <a:xfrm>
            <a:off x="800100" y="557212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rPr>
              <a:t>Current UI</a:t>
            </a:r>
          </a:p>
        </p:txBody>
      </p:sp>
      <p:sp>
        <p:nvSpPr>
          <p:cNvPr id="9" name="product-ui-caption">
            <a:extLst>
              <a:ext uri="{FF2B5EF4-FFF2-40B4-BE49-F238E27FC236}">
                <a16:creationId xmlns:a16="http://schemas.microsoft.com/office/drawing/2014/main" id="{A8BCB09C-F785-4D59-919F-38D3BDA96817}"/>
              </a:ext>
            </a:extLst>
          </p:cNvPr>
          <p:cNvSpPr>
            <a:spLocks noGrp="1"/>
          </p:cNvSpPr>
          <p:nvPr/>
        </p:nvSpPr>
        <p:spPr>
          <a:xfrm>
            <a:off x="1752600" y="5572125"/>
            <a:ext cx="3381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717A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7A9E"/>
                </a:solidFill>
                <a:latin typeface="Helvetica Neue"/>
                <a:ea typeface="Helvetica Neue"/>
                <a:cs typeface="Helvetica Neue"/>
              </a:rPr>
              <a:t>Document upload and microphone workspace</a:t>
            </a:r>
          </a:p>
        </p:txBody>
      </p:sp>
      <p:sp>
        <p:nvSpPr>
          <p:cNvPr id="10" name="step-1-number">
            <a:extLst>
              <a:ext uri="{FF2B5EF4-FFF2-40B4-BE49-F238E27FC236}">
                <a16:creationId xmlns:a16="http://schemas.microsoft.com/office/drawing/2014/main" id="{3B78B175-7D09-4A35-8220-6DFB494ED482}"/>
              </a:ext>
            </a:extLst>
          </p:cNvPr>
          <p:cNvSpPr>
            <a:spLocks noGrp="1"/>
          </p:cNvSpPr>
          <p:nvPr/>
        </p:nvSpPr>
        <p:spPr>
          <a:xfrm>
            <a:off x="6267450" y="219075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step-1-heading">
            <a:extLst>
              <a:ext uri="{FF2B5EF4-FFF2-40B4-BE49-F238E27FC236}">
                <a16:creationId xmlns:a16="http://schemas.microsoft.com/office/drawing/2014/main" id="{0CE8062E-DC00-41D7-A9FF-6329534DD7CB}"/>
              </a:ext>
            </a:extLst>
          </p:cNvPr>
          <p:cNvSpPr>
            <a:spLocks noGrp="1"/>
          </p:cNvSpPr>
          <p:nvPr/>
        </p:nvSpPr>
        <p:spPr>
          <a:xfrm>
            <a:off x="6819900" y="2162175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72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Load</a:t>
            </a:r>
          </a:p>
        </p:txBody>
      </p:sp>
      <p:sp>
        <p:nvSpPr>
          <p:cNvPr id="12" name="step-1-body">
            <a:extLst>
              <a:ext uri="{FF2B5EF4-FFF2-40B4-BE49-F238E27FC236}">
                <a16:creationId xmlns:a16="http://schemas.microsoft.com/office/drawing/2014/main" id="{1FF8198D-2227-402D-82DB-B8E6D15DFF24}"/>
              </a:ext>
            </a:extLst>
          </p:cNvPr>
          <p:cNvSpPr>
            <a:spLocks noGrp="1"/>
          </p:cNvSpPr>
          <p:nvPr/>
        </p:nvSpPr>
        <p:spPr>
          <a:xfrm>
            <a:off x="6819900" y="2466975"/>
            <a:ext cx="4324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Use an approved text-based PDF, Markdown file, or plain-text brief.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3191D642-268A-4CA8-933F-D352C619D454}"/>
              </a:ext>
            </a:extLst>
          </p:cNvPr>
          <p:cNvSpPr>
            <a:spLocks noGrp="1"/>
          </p:cNvSpPr>
          <p:nvPr/>
        </p:nvSpPr>
        <p:spPr>
          <a:xfrm>
            <a:off x="6496050" y="2628900"/>
            <a:ext cx="0" cy="371475"/>
          </a:xfrm>
          <a:prstGeom prst="line">
            <a:avLst/>
          </a:prstGeom>
          <a:noFill/>
          <a:ln w="9525">
            <a:solidFill>
              <a:srgbClr val="2834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tep-2-number">
            <a:extLst>
              <a:ext uri="{FF2B5EF4-FFF2-40B4-BE49-F238E27FC236}">
                <a16:creationId xmlns:a16="http://schemas.microsoft.com/office/drawing/2014/main" id="{25259145-B0AA-4917-A72B-4166ADFD0220}"/>
              </a:ext>
            </a:extLst>
          </p:cNvPr>
          <p:cNvSpPr>
            <a:spLocks noGrp="1"/>
          </p:cNvSpPr>
          <p:nvPr/>
        </p:nvSpPr>
        <p:spPr>
          <a:xfrm>
            <a:off x="6267450" y="3000375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A1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1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step-2-heading">
            <a:extLst>
              <a:ext uri="{FF2B5EF4-FFF2-40B4-BE49-F238E27FC236}">
                <a16:creationId xmlns:a16="http://schemas.microsoft.com/office/drawing/2014/main" id="{E9D4A532-3BB1-4A69-A957-D5BE89D22390}"/>
              </a:ext>
            </a:extLst>
          </p:cNvPr>
          <p:cNvSpPr>
            <a:spLocks noGrp="1"/>
          </p:cNvSpPr>
          <p:nvPr/>
        </p:nvSpPr>
        <p:spPr>
          <a:xfrm>
            <a:off x="6819900" y="29718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72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Record</a:t>
            </a:r>
          </a:p>
        </p:txBody>
      </p:sp>
      <p:sp>
        <p:nvSpPr>
          <p:cNvPr id="16" name="step-2-body">
            <a:extLst>
              <a:ext uri="{FF2B5EF4-FFF2-40B4-BE49-F238E27FC236}">
                <a16:creationId xmlns:a16="http://schemas.microsoft.com/office/drawing/2014/main" id="{33842DA0-4EA9-4C95-B5DA-05CA73CE75EF}"/>
              </a:ext>
            </a:extLst>
          </p:cNvPr>
          <p:cNvSpPr>
            <a:spLocks noGrp="1"/>
          </p:cNvSpPr>
          <p:nvPr/>
        </p:nvSpPr>
        <p:spPr>
          <a:xfrm>
            <a:off x="6819900" y="3276600"/>
            <a:ext cx="4324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Capture one spoken question in the workspace.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2466EFBF-1035-4C4C-982E-B7B1C7262533}"/>
              </a:ext>
            </a:extLst>
          </p:cNvPr>
          <p:cNvSpPr>
            <a:spLocks noGrp="1"/>
          </p:cNvSpPr>
          <p:nvPr/>
        </p:nvSpPr>
        <p:spPr>
          <a:xfrm>
            <a:off x="6496050" y="3438525"/>
            <a:ext cx="0" cy="371475"/>
          </a:xfrm>
          <a:prstGeom prst="line">
            <a:avLst/>
          </a:prstGeom>
          <a:noFill/>
          <a:ln w="9525">
            <a:solidFill>
              <a:srgbClr val="2834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tep-3-number">
            <a:extLst>
              <a:ext uri="{FF2B5EF4-FFF2-40B4-BE49-F238E27FC236}">
                <a16:creationId xmlns:a16="http://schemas.microsoft.com/office/drawing/2014/main" id="{5CEA35FC-3E5F-4D93-BD42-9D9C5FD668E9}"/>
              </a:ext>
            </a:extLst>
          </p:cNvPr>
          <p:cNvSpPr>
            <a:spLocks noGrp="1"/>
          </p:cNvSpPr>
          <p:nvPr/>
        </p:nvSpPr>
        <p:spPr>
          <a:xfrm>
            <a:off x="6267450" y="38100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A6E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6E8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step-3-heading">
            <a:extLst>
              <a:ext uri="{FF2B5EF4-FFF2-40B4-BE49-F238E27FC236}">
                <a16:creationId xmlns:a16="http://schemas.microsoft.com/office/drawing/2014/main" id="{FB24E76D-07AD-4048-8330-E056DE1BF8E0}"/>
              </a:ext>
            </a:extLst>
          </p:cNvPr>
          <p:cNvSpPr>
            <a:spLocks noGrp="1"/>
          </p:cNvSpPr>
          <p:nvPr/>
        </p:nvSpPr>
        <p:spPr>
          <a:xfrm>
            <a:off x="6819900" y="3781425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72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Ground</a:t>
            </a:r>
          </a:p>
        </p:txBody>
      </p:sp>
      <p:sp>
        <p:nvSpPr>
          <p:cNvPr id="20" name="step-3-body">
            <a:extLst>
              <a:ext uri="{FF2B5EF4-FFF2-40B4-BE49-F238E27FC236}">
                <a16:creationId xmlns:a16="http://schemas.microsoft.com/office/drawing/2014/main" id="{DB721FB8-8AFB-4587-B1DC-8C4865212860}"/>
              </a:ext>
            </a:extLst>
          </p:cNvPr>
          <p:cNvSpPr>
            <a:spLocks noGrp="1"/>
          </p:cNvSpPr>
          <p:nvPr/>
        </p:nvSpPr>
        <p:spPr>
          <a:xfrm>
            <a:off x="6819900" y="4086225"/>
            <a:ext cx="4324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Transcribe the question and select relevant source sections.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18E5655B-6251-475F-97D1-B5C8A660C4A2}"/>
              </a:ext>
            </a:extLst>
          </p:cNvPr>
          <p:cNvSpPr>
            <a:spLocks noGrp="1"/>
          </p:cNvSpPr>
          <p:nvPr/>
        </p:nvSpPr>
        <p:spPr>
          <a:xfrm>
            <a:off x="6496050" y="4248150"/>
            <a:ext cx="0" cy="371475"/>
          </a:xfrm>
          <a:prstGeom prst="line">
            <a:avLst/>
          </a:prstGeom>
          <a:noFill/>
          <a:ln w="9525">
            <a:solidFill>
              <a:srgbClr val="2834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tep-4-number">
            <a:extLst>
              <a:ext uri="{FF2B5EF4-FFF2-40B4-BE49-F238E27FC236}">
                <a16:creationId xmlns:a16="http://schemas.microsoft.com/office/drawing/2014/main" id="{6740EB0B-8F80-401C-8DA2-227C14B2D842}"/>
              </a:ext>
            </a:extLst>
          </p:cNvPr>
          <p:cNvSpPr>
            <a:spLocks noGrp="1"/>
          </p:cNvSpPr>
          <p:nvPr/>
        </p:nvSpPr>
        <p:spPr>
          <a:xfrm>
            <a:off x="6267450" y="4619625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91EB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91EBD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3" name="step-4-heading">
            <a:extLst>
              <a:ext uri="{FF2B5EF4-FFF2-40B4-BE49-F238E27FC236}">
                <a16:creationId xmlns:a16="http://schemas.microsoft.com/office/drawing/2014/main" id="{1C4868E6-C990-4547-81B1-148EF07341AB}"/>
              </a:ext>
            </a:extLst>
          </p:cNvPr>
          <p:cNvSpPr>
            <a:spLocks noGrp="1"/>
          </p:cNvSpPr>
          <p:nvPr/>
        </p:nvSpPr>
        <p:spPr>
          <a:xfrm>
            <a:off x="6819900" y="45910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72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Speak</a:t>
            </a:r>
          </a:p>
        </p:txBody>
      </p:sp>
      <p:sp>
        <p:nvSpPr>
          <p:cNvPr id="24" name="step-4-body">
            <a:extLst>
              <a:ext uri="{FF2B5EF4-FFF2-40B4-BE49-F238E27FC236}">
                <a16:creationId xmlns:a16="http://schemas.microsoft.com/office/drawing/2014/main" id="{B9174659-BD15-4EF3-9A0C-90027A3DB7C4}"/>
              </a:ext>
            </a:extLst>
          </p:cNvPr>
          <p:cNvSpPr>
            <a:spLocks noGrp="1"/>
          </p:cNvSpPr>
          <p:nvPr/>
        </p:nvSpPr>
        <p:spPr>
          <a:xfrm>
            <a:off x="6819900" y="4895850"/>
            <a:ext cx="4324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Return the source-grounded answer as audio.</a:t>
            </a:r>
          </a:p>
        </p:txBody>
      </p:sp>
      <p:sp>
        <p:nvSpPr>
          <p:cNvPr id="25" name="product-turn-note">
            <a:extLst>
              <a:ext uri="{FF2B5EF4-FFF2-40B4-BE49-F238E27FC236}">
                <a16:creationId xmlns:a16="http://schemas.microsoft.com/office/drawing/2014/main" id="{6D67B0EF-890C-4E4F-B233-53765B04AD25}"/>
              </a:ext>
            </a:extLst>
          </p:cNvPr>
          <p:cNvSpPr>
            <a:spLocks noGrp="1"/>
          </p:cNvSpPr>
          <p:nvPr/>
        </p:nvSpPr>
        <p:spPr>
          <a:xfrm>
            <a:off x="6267450" y="556260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717A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17A9E"/>
                </a:solidFill>
                <a:latin typeface="Helvetica Neue"/>
                <a:ea typeface="Helvetica Neue"/>
                <a:cs typeface="Helvetica Neue"/>
              </a:rPr>
              <a:t>Current interaction: one recorded question per turn. It is not a continuous real-time conversation.</a:t>
            </a:r>
          </a:p>
        </p:txBody>
      </p:sp>
    </p:spTree>
    <p:extLst>
      <p:ext uri="{BB962C8B-B14F-4D97-AF65-F5344CB8AC3E}">
        <p14:creationId xmlns:p14="http://schemas.microsoft.com/office/powerpoint/2010/main" val="1324847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965782F2-A556-4ADD-9045-038999A76416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820400" cy="0"/>
          </a:xfrm>
          <a:prstGeom prst="line">
            <a:avLst/>
          </a:prstGeom>
          <a:noFill/>
          <a:ln w="9525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lide-4-brand">
            <a:extLst>
              <a:ext uri="{FF2B5EF4-FFF2-40B4-BE49-F238E27FC236}">
                <a16:creationId xmlns:a16="http://schemas.microsoft.com/office/drawing/2014/main" id="{79BC0CC3-C871-4002-9F2B-5083E7B9DC46}"/>
              </a:ext>
            </a:extLst>
          </p:cNvPr>
          <p:cNvSpPr>
            <a:spLocks noGrp="1"/>
          </p:cNvSpPr>
          <p:nvPr/>
        </p:nvSpPr>
        <p:spPr>
          <a:xfrm>
            <a:off x="685800" y="20955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0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rPr>
              <a:t>PITCHROOM AI</a:t>
            </a:r>
          </a:p>
        </p:txBody>
      </p:sp>
      <p:sp>
        <p:nvSpPr>
          <p:cNvPr id="3" name="slide-4-folio">
            <a:extLst>
              <a:ext uri="{FF2B5EF4-FFF2-40B4-BE49-F238E27FC236}">
                <a16:creationId xmlns:a16="http://schemas.microsoft.com/office/drawing/2014/main" id="{B932E155-9415-4EBC-845E-D5F9EA6BDD96}"/>
              </a:ext>
            </a:extLst>
          </p:cNvPr>
          <p:cNvSpPr>
            <a:spLocks noGrp="1"/>
          </p:cNvSpPr>
          <p:nvPr/>
        </p:nvSpPr>
        <p:spPr>
          <a:xfrm>
            <a:off x="10810875" y="209550"/>
            <a:ext cx="6953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1">
                <a:solidFill>
                  <a:srgbClr val="717A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7A9E"/>
                </a:solidFill>
                <a:latin typeface="Helvetica Neue"/>
                <a:ea typeface="Helvetica Neue"/>
                <a:cs typeface="Helvetica Neue"/>
              </a:rPr>
              <a:t>04 / 06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1C78E719-4BE3-4C98-98B3-0EBBABABBB7E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34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Trust boundary and current scope</a:t>
            </a: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1779A3C2-DBD9-4908-B140-C91DDDC29C4F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The prototype treats the approved pitch as the answer boundary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2EFBC562-E191-49C1-8B01-98DC1FA21903}"/>
              </a:ext>
            </a:extLst>
          </p:cNvPr>
          <p:cNvSpPr>
            <a:spLocks noGrp="1"/>
          </p:cNvSpPr>
          <p:nvPr/>
        </p:nvSpPr>
        <p:spPr>
          <a:xfrm>
            <a:off x="6000750" y="2114550"/>
            <a:ext cx="0" cy="3057525"/>
          </a:xfrm>
          <a:prstGeom prst="line">
            <a:avLst/>
          </a:prstGeom>
          <a:noFill/>
          <a:ln w="9525">
            <a:solidFill>
              <a:srgbClr val="2834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rust-answer-title">
            <a:extLst>
              <a:ext uri="{FF2B5EF4-FFF2-40B4-BE49-F238E27FC236}">
                <a16:creationId xmlns:a16="http://schemas.microsoft.com/office/drawing/2014/main" id="{96DDB79B-E7A1-419C-A1A2-35FEA35DC265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025" b="1">
                <a:solidFill>
                  <a:srgbClr val="91EB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91EBD4"/>
                </a:solidFill>
                <a:latin typeface="Helvetica Neue"/>
                <a:ea typeface="Helvetica Neue"/>
                <a:cs typeface="Helvetica Neue"/>
              </a:rPr>
              <a:t>Answer behavior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8738DAB-4BF1-41BE-BE37-7F2E0A10000B}"/>
              </a:ext>
            </a:extLst>
          </p:cNvPr>
          <p:cNvSpPr>
            <a:spLocks noGrp="1"/>
          </p:cNvSpPr>
          <p:nvPr/>
        </p:nvSpPr>
        <p:spPr>
          <a:xfrm>
            <a:off x="685800" y="2886075"/>
            <a:ext cx="171450" cy="171450"/>
          </a:xfrm>
          <a:prstGeom prst="ellipse">
            <a:avLst/>
          </a:prstGeom>
          <a:solidFill>
            <a:srgbClr val="91EBD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rust-answer-1-heading">
            <a:extLst>
              <a:ext uri="{FF2B5EF4-FFF2-40B4-BE49-F238E27FC236}">
                <a16:creationId xmlns:a16="http://schemas.microsoft.com/office/drawing/2014/main" id="{4249560A-0DD9-46B2-9602-2042AAE3B999}"/>
              </a:ext>
            </a:extLst>
          </p:cNvPr>
          <p:cNvSpPr>
            <a:spLocks noGrp="1"/>
          </p:cNvSpPr>
          <p:nvPr/>
        </p:nvSpPr>
        <p:spPr>
          <a:xfrm>
            <a:off x="1009650" y="2857500"/>
            <a:ext cx="381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Relevant source sections</a:t>
            </a:r>
          </a:p>
        </p:txBody>
      </p:sp>
      <p:sp>
        <p:nvSpPr>
          <p:cNvPr id="10" name="trust-answer-1-body">
            <a:extLst>
              <a:ext uri="{FF2B5EF4-FFF2-40B4-BE49-F238E27FC236}">
                <a16:creationId xmlns:a16="http://schemas.microsoft.com/office/drawing/2014/main" id="{ECEBC2B1-2B0C-4889-8173-AD7A0273A8EF}"/>
              </a:ext>
            </a:extLst>
          </p:cNvPr>
          <p:cNvSpPr>
            <a:spLocks noGrp="1"/>
          </p:cNvSpPr>
          <p:nvPr/>
        </p:nvSpPr>
        <p:spPr>
          <a:xfrm>
            <a:off x="1009650" y="3152775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The service selects matching source chunks before answering.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8AFE347-4429-4491-BAD6-A4D5345D1550}"/>
              </a:ext>
            </a:extLst>
          </p:cNvPr>
          <p:cNvSpPr>
            <a:spLocks noGrp="1"/>
          </p:cNvSpPr>
          <p:nvPr/>
        </p:nvSpPr>
        <p:spPr>
          <a:xfrm>
            <a:off x="685800" y="3724275"/>
            <a:ext cx="171450" cy="171450"/>
          </a:xfrm>
          <a:prstGeom prst="ellipse">
            <a:avLst/>
          </a:prstGeom>
          <a:solidFill>
            <a:srgbClr val="91EBD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rust-answer-2-heading">
            <a:extLst>
              <a:ext uri="{FF2B5EF4-FFF2-40B4-BE49-F238E27FC236}">
                <a16:creationId xmlns:a16="http://schemas.microsoft.com/office/drawing/2014/main" id="{06F730EE-A79B-457C-ACF4-3DECC9FB36C0}"/>
              </a:ext>
            </a:extLst>
          </p:cNvPr>
          <p:cNvSpPr>
            <a:spLocks noGrp="1"/>
          </p:cNvSpPr>
          <p:nvPr/>
        </p:nvSpPr>
        <p:spPr>
          <a:xfrm>
            <a:off x="1009650" y="3695700"/>
            <a:ext cx="381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Extractive by default</a:t>
            </a:r>
          </a:p>
        </p:txBody>
      </p:sp>
      <p:sp>
        <p:nvSpPr>
          <p:cNvPr id="13" name="trust-answer-2-body">
            <a:extLst>
              <a:ext uri="{FF2B5EF4-FFF2-40B4-BE49-F238E27FC236}">
                <a16:creationId xmlns:a16="http://schemas.microsoft.com/office/drawing/2014/main" id="{1E74B0CE-C8E0-422D-B856-00229CED5AD2}"/>
              </a:ext>
            </a:extLst>
          </p:cNvPr>
          <p:cNvSpPr>
            <a:spLocks noGrp="1"/>
          </p:cNvSpPr>
          <p:nvPr/>
        </p:nvSpPr>
        <p:spPr>
          <a:xfrm>
            <a:off x="1009650" y="3990975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The current answer path returns source text instead of adding unsupported claims.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E8B4440-CED7-48F7-BEAC-88D991481232}"/>
              </a:ext>
            </a:extLst>
          </p:cNvPr>
          <p:cNvSpPr>
            <a:spLocks noGrp="1"/>
          </p:cNvSpPr>
          <p:nvPr/>
        </p:nvSpPr>
        <p:spPr>
          <a:xfrm>
            <a:off x="685800" y="4562475"/>
            <a:ext cx="171450" cy="171450"/>
          </a:xfrm>
          <a:prstGeom prst="ellipse">
            <a:avLst/>
          </a:prstGeom>
          <a:solidFill>
            <a:srgbClr val="91EBD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rust-answer-3-heading">
            <a:extLst>
              <a:ext uri="{FF2B5EF4-FFF2-40B4-BE49-F238E27FC236}">
                <a16:creationId xmlns:a16="http://schemas.microsoft.com/office/drawing/2014/main" id="{5C22C085-D2BC-4026-A6DD-BBB68E546A2F}"/>
              </a:ext>
            </a:extLst>
          </p:cNvPr>
          <p:cNvSpPr>
            <a:spLocks noGrp="1"/>
          </p:cNvSpPr>
          <p:nvPr/>
        </p:nvSpPr>
        <p:spPr>
          <a:xfrm>
            <a:off x="1009650" y="4533900"/>
            <a:ext cx="381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Clear decline</a:t>
            </a:r>
          </a:p>
        </p:txBody>
      </p:sp>
      <p:sp>
        <p:nvSpPr>
          <p:cNvPr id="16" name="trust-answer-3-body">
            <a:extLst>
              <a:ext uri="{FF2B5EF4-FFF2-40B4-BE49-F238E27FC236}">
                <a16:creationId xmlns:a16="http://schemas.microsoft.com/office/drawing/2014/main" id="{662B7A69-F2F8-4875-92FE-5A28E63D8D90}"/>
              </a:ext>
            </a:extLst>
          </p:cNvPr>
          <p:cNvSpPr>
            <a:spLocks noGrp="1"/>
          </p:cNvSpPr>
          <p:nvPr/>
        </p:nvSpPr>
        <p:spPr>
          <a:xfrm>
            <a:off x="1009650" y="4829175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When no relevant source supports the question, the response says so.</a:t>
            </a:r>
          </a:p>
        </p:txBody>
      </p:sp>
      <p:sp>
        <p:nvSpPr>
          <p:cNvPr id="17" name="scope-title">
            <a:extLst>
              <a:ext uri="{FF2B5EF4-FFF2-40B4-BE49-F238E27FC236}">
                <a16:creationId xmlns:a16="http://schemas.microsoft.com/office/drawing/2014/main" id="{4A62BDC4-5C1A-4490-B804-9E20E482ACC3}"/>
              </a:ext>
            </a:extLst>
          </p:cNvPr>
          <p:cNvSpPr>
            <a:spLocks noGrp="1"/>
          </p:cNvSpPr>
          <p:nvPr/>
        </p:nvSpPr>
        <p:spPr>
          <a:xfrm>
            <a:off x="6515100" y="22479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025" b="1">
                <a:solidFill>
                  <a:srgbClr val="A1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A18DFF"/>
                </a:solidFill>
                <a:latin typeface="Helvetica Neue"/>
                <a:ea typeface="Helvetica Neue"/>
                <a:cs typeface="Helvetica Neue"/>
              </a:rPr>
              <a:t>Prototype scope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EB630DC-1D7A-473E-AD03-3302BDFBD5B8}"/>
              </a:ext>
            </a:extLst>
          </p:cNvPr>
          <p:cNvSpPr>
            <a:spLocks noGrp="1"/>
          </p:cNvSpPr>
          <p:nvPr/>
        </p:nvSpPr>
        <p:spPr>
          <a:xfrm>
            <a:off x="6515100" y="2886075"/>
            <a:ext cx="171450" cy="171450"/>
          </a:xfrm>
          <a:prstGeom prst="ellipse">
            <a:avLst/>
          </a:prstGeom>
          <a:solidFill>
            <a:srgbClr val="A1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cope-1-heading">
            <a:extLst>
              <a:ext uri="{FF2B5EF4-FFF2-40B4-BE49-F238E27FC236}">
                <a16:creationId xmlns:a16="http://schemas.microsoft.com/office/drawing/2014/main" id="{E6A8EB65-BFDA-4890-900F-9C3A7885BB1B}"/>
              </a:ext>
            </a:extLst>
          </p:cNvPr>
          <p:cNvSpPr>
            <a:spLocks noGrp="1"/>
          </p:cNvSpPr>
          <p:nvPr/>
        </p:nvSpPr>
        <p:spPr>
          <a:xfrm>
            <a:off x="6838950" y="2857500"/>
            <a:ext cx="3886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Supported source formats</a:t>
            </a:r>
          </a:p>
        </p:txBody>
      </p:sp>
      <p:sp>
        <p:nvSpPr>
          <p:cNvPr id="20" name="scope-1-body">
            <a:extLst>
              <a:ext uri="{FF2B5EF4-FFF2-40B4-BE49-F238E27FC236}">
                <a16:creationId xmlns:a16="http://schemas.microsoft.com/office/drawing/2014/main" id="{2F1F718D-4D70-43A0-AC07-75990C2F27A1}"/>
              </a:ext>
            </a:extLst>
          </p:cNvPr>
          <p:cNvSpPr>
            <a:spLocks noGrp="1"/>
          </p:cNvSpPr>
          <p:nvPr/>
        </p:nvSpPr>
        <p:spPr>
          <a:xfrm>
            <a:off x="6838950" y="3152775"/>
            <a:ext cx="400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Selectable text in PDFs, plus Markdown and plain text.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DD5E0D7-3BCA-454A-B5F1-F19368642522}"/>
              </a:ext>
            </a:extLst>
          </p:cNvPr>
          <p:cNvSpPr>
            <a:spLocks noGrp="1"/>
          </p:cNvSpPr>
          <p:nvPr/>
        </p:nvSpPr>
        <p:spPr>
          <a:xfrm>
            <a:off x="6515100" y="3724275"/>
            <a:ext cx="171450" cy="171450"/>
          </a:xfrm>
          <a:prstGeom prst="ellipse">
            <a:avLst/>
          </a:prstGeom>
          <a:solidFill>
            <a:srgbClr val="A1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cope-2-heading">
            <a:extLst>
              <a:ext uri="{FF2B5EF4-FFF2-40B4-BE49-F238E27FC236}">
                <a16:creationId xmlns:a16="http://schemas.microsoft.com/office/drawing/2014/main" id="{DA23EBFB-4749-43C4-BE5B-9EF24265A2C8}"/>
              </a:ext>
            </a:extLst>
          </p:cNvPr>
          <p:cNvSpPr>
            <a:spLocks noGrp="1"/>
          </p:cNvSpPr>
          <p:nvPr/>
        </p:nvSpPr>
        <p:spPr>
          <a:xfrm>
            <a:off x="6838950" y="3695700"/>
            <a:ext cx="3886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Demo storage</a:t>
            </a:r>
          </a:p>
        </p:txBody>
      </p:sp>
      <p:sp>
        <p:nvSpPr>
          <p:cNvPr id="23" name="scope-2-body">
            <a:extLst>
              <a:ext uri="{FF2B5EF4-FFF2-40B4-BE49-F238E27FC236}">
                <a16:creationId xmlns:a16="http://schemas.microsoft.com/office/drawing/2014/main" id="{CD60B875-BE7B-4422-8451-70F3BF7F0A34}"/>
              </a:ext>
            </a:extLst>
          </p:cNvPr>
          <p:cNvSpPr>
            <a:spLocks noGrp="1"/>
          </p:cNvSpPr>
          <p:nvPr/>
        </p:nvSpPr>
        <p:spPr>
          <a:xfrm>
            <a:off x="6838950" y="3990975"/>
            <a:ext cx="400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The active pitch stays in memory and resets when the service restarts.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8286C88-A5D8-44EF-A87D-A12D2DECD0B1}"/>
              </a:ext>
            </a:extLst>
          </p:cNvPr>
          <p:cNvSpPr>
            <a:spLocks noGrp="1"/>
          </p:cNvSpPr>
          <p:nvPr/>
        </p:nvSpPr>
        <p:spPr>
          <a:xfrm>
            <a:off x="6515100" y="4562475"/>
            <a:ext cx="171450" cy="171450"/>
          </a:xfrm>
          <a:prstGeom prst="ellipse">
            <a:avLst/>
          </a:prstGeom>
          <a:solidFill>
            <a:srgbClr val="A1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cope-3-heading">
            <a:extLst>
              <a:ext uri="{FF2B5EF4-FFF2-40B4-BE49-F238E27FC236}">
                <a16:creationId xmlns:a16="http://schemas.microsoft.com/office/drawing/2014/main" id="{F55FFB29-8396-464D-AF43-AC5F051F8315}"/>
              </a:ext>
            </a:extLst>
          </p:cNvPr>
          <p:cNvSpPr>
            <a:spLocks noGrp="1"/>
          </p:cNvSpPr>
          <p:nvPr/>
        </p:nvSpPr>
        <p:spPr>
          <a:xfrm>
            <a:off x="6838950" y="4533900"/>
            <a:ext cx="3886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Voice setup</a:t>
            </a:r>
          </a:p>
        </p:txBody>
      </p:sp>
      <p:sp>
        <p:nvSpPr>
          <p:cNvPr id="26" name="scope-3-body">
            <a:extLst>
              <a:ext uri="{FF2B5EF4-FFF2-40B4-BE49-F238E27FC236}">
                <a16:creationId xmlns:a16="http://schemas.microsoft.com/office/drawing/2014/main" id="{94CED76A-5CAC-46E0-80FD-D09EBD2B165B}"/>
              </a:ext>
            </a:extLst>
          </p:cNvPr>
          <p:cNvSpPr>
            <a:spLocks noGrp="1"/>
          </p:cNvSpPr>
          <p:nvPr/>
        </p:nvSpPr>
        <p:spPr>
          <a:xfrm>
            <a:off x="6838950" y="4829175"/>
            <a:ext cx="400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Transcription and speech need configured providers before a voice demo.</a:t>
            </a:r>
          </a:p>
        </p:txBody>
      </p:sp>
      <p:sp>
        <p:nvSpPr>
          <p:cNvPr id="27" name="scope-exclusion-surface">
            <a:extLst>
              <a:ext uri="{FF2B5EF4-FFF2-40B4-BE49-F238E27FC236}">
                <a16:creationId xmlns:a16="http://schemas.microsoft.com/office/drawing/2014/main" id="{D342B974-ABBE-4F89-B604-6E10F23D829C}"/>
              </a:ext>
            </a:extLst>
          </p:cNvPr>
          <p:cNvSpPr>
            <a:spLocks noGrp="1"/>
          </p:cNvSpPr>
          <p:nvPr/>
        </p:nvSpPr>
        <p:spPr>
          <a:xfrm>
            <a:off x="685800" y="5562600"/>
            <a:ext cx="10134600" cy="514350"/>
          </a:xfrm>
          <a:prstGeom prst="roundRect">
            <a:avLst>
              <a:gd name="adj" fmla="val 22222"/>
            </a:avLst>
          </a:prstGeom>
          <a:solidFill>
            <a:srgbClr val="4A2438"/>
          </a:solidFill>
          <a:ln w="9525">
            <a:solidFill>
              <a:srgbClr val="7136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cope-exclusion">
            <a:extLst>
              <a:ext uri="{FF2B5EF4-FFF2-40B4-BE49-F238E27FC236}">
                <a16:creationId xmlns:a16="http://schemas.microsoft.com/office/drawing/2014/main" id="{9B1D9CFC-06BD-4005-8EB1-D8D43714EE45}"/>
              </a:ext>
            </a:extLst>
          </p:cNvPr>
          <p:cNvSpPr>
            <a:spLocks noGrp="1"/>
          </p:cNvSpPr>
          <p:nvPr/>
        </p:nvSpPr>
        <p:spPr>
          <a:xfrm>
            <a:off x="942975" y="5686425"/>
            <a:ext cx="8953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FFB4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B4C2"/>
                </a:solidFill>
                <a:latin typeface="Helvetica Neue"/>
                <a:ea typeface="Helvetica Neue"/>
                <a:cs typeface="Helvetica Neue"/>
              </a:rPr>
              <a:t>Not yet supported: image-only slides, charts, or scanned documents.</a:t>
            </a:r>
          </a:p>
        </p:txBody>
      </p:sp>
    </p:spTree>
    <p:extLst>
      <p:ext uri="{BB962C8B-B14F-4D97-AF65-F5344CB8AC3E}">
        <p14:creationId xmlns:p14="http://schemas.microsoft.com/office/powerpoint/2010/main" val="490238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28395BFE-CFFF-4993-9AE3-B6D687D9102F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820400" cy="0"/>
          </a:xfrm>
          <a:prstGeom prst="line">
            <a:avLst/>
          </a:prstGeom>
          <a:noFill/>
          <a:ln w="9525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lide-5-brand">
            <a:extLst>
              <a:ext uri="{FF2B5EF4-FFF2-40B4-BE49-F238E27FC236}">
                <a16:creationId xmlns:a16="http://schemas.microsoft.com/office/drawing/2014/main" id="{E4097424-19C8-421C-9A7B-22A59E1E9CBE}"/>
              </a:ext>
            </a:extLst>
          </p:cNvPr>
          <p:cNvSpPr>
            <a:spLocks noGrp="1"/>
          </p:cNvSpPr>
          <p:nvPr/>
        </p:nvSpPr>
        <p:spPr>
          <a:xfrm>
            <a:off x="685800" y="20955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0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rPr>
              <a:t>PITCHROOM AI</a:t>
            </a:r>
          </a:p>
        </p:txBody>
      </p:sp>
      <p:sp>
        <p:nvSpPr>
          <p:cNvPr id="3" name="slide-5-folio">
            <a:extLst>
              <a:ext uri="{FF2B5EF4-FFF2-40B4-BE49-F238E27FC236}">
                <a16:creationId xmlns:a16="http://schemas.microsoft.com/office/drawing/2014/main" id="{C4666A1F-E6AC-49BA-9903-44F471E3E6C9}"/>
              </a:ext>
            </a:extLst>
          </p:cNvPr>
          <p:cNvSpPr>
            <a:spLocks noGrp="1"/>
          </p:cNvSpPr>
          <p:nvPr/>
        </p:nvSpPr>
        <p:spPr>
          <a:xfrm>
            <a:off x="10810875" y="209550"/>
            <a:ext cx="6953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1">
                <a:solidFill>
                  <a:srgbClr val="717A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7A9E"/>
                </a:solidFill>
                <a:latin typeface="Helvetica Neue"/>
                <a:ea typeface="Helvetica Neue"/>
                <a:cs typeface="Helvetica Neue"/>
              </a:rPr>
              <a:t>05 / 06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82DD05FB-EBDD-454D-BD85-FD03B1E814B9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34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A 90-second judge demo</a:t>
            </a: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80927662-7FE6-476D-BFA3-91656E371979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Show the full speech-to-speech loop, then prove that the boundary holds</a:t>
            </a:r>
          </a:p>
        </p:txBody>
      </p:sp>
      <p:sp>
        <p:nvSpPr>
          <p:cNvPr id="6" name="demo-1-time">
            <a:extLst>
              <a:ext uri="{FF2B5EF4-FFF2-40B4-BE49-F238E27FC236}">
                <a16:creationId xmlns:a16="http://schemas.microsoft.com/office/drawing/2014/main" id="{39D4BFC7-7A93-43B5-98AB-3C8DC88B99B7}"/>
              </a:ext>
            </a:extLst>
          </p:cNvPr>
          <p:cNvSpPr>
            <a:spLocks noGrp="1"/>
          </p:cNvSpPr>
          <p:nvPr/>
        </p:nvSpPr>
        <p:spPr>
          <a:xfrm>
            <a:off x="685800" y="2257425"/>
            <a:ext cx="72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rPr>
              <a:t>00:00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022FEE7E-2935-4BEB-84A7-B4D528DDB9AC}"/>
              </a:ext>
            </a:extLst>
          </p:cNvPr>
          <p:cNvSpPr>
            <a:spLocks noGrp="1"/>
          </p:cNvSpPr>
          <p:nvPr/>
        </p:nvSpPr>
        <p:spPr>
          <a:xfrm>
            <a:off x="1552575" y="2257425"/>
            <a:ext cx="0" cy="504825"/>
          </a:xfrm>
          <a:prstGeom prst="line">
            <a:avLst/>
          </a:prstGeom>
          <a:noFill/>
          <a:ln w="19050">
            <a:solidFill>
              <a:srgbClr val="2834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demo-1-heading">
            <a:extLst>
              <a:ext uri="{FF2B5EF4-FFF2-40B4-BE49-F238E27FC236}">
                <a16:creationId xmlns:a16="http://schemas.microsoft.com/office/drawing/2014/main" id="{CB17B35B-D2F5-4497-B8F1-82EE4CC3BF20}"/>
              </a:ext>
            </a:extLst>
          </p:cNvPr>
          <p:cNvSpPr>
            <a:spLocks noGrp="1"/>
          </p:cNvSpPr>
          <p:nvPr/>
        </p:nvSpPr>
        <p:spPr>
          <a:xfrm>
            <a:off x="1857375" y="2209800"/>
            <a:ext cx="3333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0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Load the demo source</a:t>
            </a:r>
          </a:p>
        </p:txBody>
      </p:sp>
      <p:sp>
        <p:nvSpPr>
          <p:cNvPr id="9" name="demo-1-body">
            <a:extLst>
              <a:ext uri="{FF2B5EF4-FFF2-40B4-BE49-F238E27FC236}">
                <a16:creationId xmlns:a16="http://schemas.microsoft.com/office/drawing/2014/main" id="{0E8F2F5F-24BC-4948-89B7-2661E07F68D8}"/>
              </a:ext>
            </a:extLst>
          </p:cNvPr>
          <p:cNvSpPr>
            <a:spLocks noGrp="1"/>
          </p:cNvSpPr>
          <p:nvPr/>
        </p:nvSpPr>
        <p:spPr>
          <a:xfrm>
            <a:off x="5524500" y="2219325"/>
            <a:ext cx="5181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Open the built-in fact sheet and show the transcript as the evidence base.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9874C798-50D4-446B-A419-FB7407B21C4F}"/>
              </a:ext>
            </a:extLst>
          </p:cNvPr>
          <p:cNvSpPr>
            <a:spLocks noGrp="1"/>
          </p:cNvSpPr>
          <p:nvPr/>
        </p:nvSpPr>
        <p:spPr>
          <a:xfrm>
            <a:off x="685800" y="2924175"/>
            <a:ext cx="10134600" cy="0"/>
          </a:xfrm>
          <a:prstGeom prst="line">
            <a:avLst/>
          </a:prstGeom>
          <a:noFill/>
          <a:ln w="9525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demo-2-time">
            <a:extLst>
              <a:ext uri="{FF2B5EF4-FFF2-40B4-BE49-F238E27FC236}">
                <a16:creationId xmlns:a16="http://schemas.microsoft.com/office/drawing/2014/main" id="{EAE9C73C-14B2-4FA1-A573-4B1D99B538C2}"/>
              </a:ext>
            </a:extLst>
          </p:cNvPr>
          <p:cNvSpPr>
            <a:spLocks noGrp="1"/>
          </p:cNvSpPr>
          <p:nvPr/>
        </p:nvSpPr>
        <p:spPr>
          <a:xfrm>
            <a:off x="685800" y="3057525"/>
            <a:ext cx="72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rPr>
              <a:t>00:20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67970970-12F4-46DA-B3F1-6F5EFFF4CC82}"/>
              </a:ext>
            </a:extLst>
          </p:cNvPr>
          <p:cNvSpPr>
            <a:spLocks noGrp="1"/>
          </p:cNvSpPr>
          <p:nvPr/>
        </p:nvSpPr>
        <p:spPr>
          <a:xfrm>
            <a:off x="1552575" y="3057525"/>
            <a:ext cx="0" cy="504825"/>
          </a:xfrm>
          <a:prstGeom prst="line">
            <a:avLst/>
          </a:prstGeom>
          <a:noFill/>
          <a:ln w="19050">
            <a:solidFill>
              <a:srgbClr val="2834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demo-2-heading">
            <a:extLst>
              <a:ext uri="{FF2B5EF4-FFF2-40B4-BE49-F238E27FC236}">
                <a16:creationId xmlns:a16="http://schemas.microsoft.com/office/drawing/2014/main" id="{5690E386-FE2C-426E-BDF4-3EEA521E0095}"/>
              </a:ext>
            </a:extLst>
          </p:cNvPr>
          <p:cNvSpPr>
            <a:spLocks noGrp="1"/>
          </p:cNvSpPr>
          <p:nvPr/>
        </p:nvSpPr>
        <p:spPr>
          <a:xfrm>
            <a:off x="1857375" y="3009900"/>
            <a:ext cx="3333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0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Ask the known question</a:t>
            </a:r>
          </a:p>
        </p:txBody>
      </p:sp>
      <p:sp>
        <p:nvSpPr>
          <p:cNvPr id="14" name="demo-2-body">
            <a:extLst>
              <a:ext uri="{FF2B5EF4-FFF2-40B4-BE49-F238E27FC236}">
                <a16:creationId xmlns:a16="http://schemas.microsoft.com/office/drawing/2014/main" id="{B63C6E92-7BE7-4E01-9FED-027CBB729560}"/>
              </a:ext>
            </a:extLst>
          </p:cNvPr>
          <p:cNvSpPr>
            <a:spLocks noGrp="1"/>
          </p:cNvSpPr>
          <p:nvPr/>
        </p:nvSpPr>
        <p:spPr>
          <a:xfrm>
            <a:off x="5524500" y="3019425"/>
            <a:ext cx="5181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Use: “What problem does Pitchroom AI solve?” Show the grounded answer.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62805FFC-91E9-47A3-B02F-FB5CC620DF4D}"/>
              </a:ext>
            </a:extLst>
          </p:cNvPr>
          <p:cNvSpPr>
            <a:spLocks noGrp="1"/>
          </p:cNvSpPr>
          <p:nvPr/>
        </p:nvSpPr>
        <p:spPr>
          <a:xfrm>
            <a:off x="685800" y="3724275"/>
            <a:ext cx="10134600" cy="0"/>
          </a:xfrm>
          <a:prstGeom prst="line">
            <a:avLst/>
          </a:prstGeom>
          <a:noFill/>
          <a:ln w="9525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demo-3-time">
            <a:extLst>
              <a:ext uri="{FF2B5EF4-FFF2-40B4-BE49-F238E27FC236}">
                <a16:creationId xmlns:a16="http://schemas.microsoft.com/office/drawing/2014/main" id="{D2537BC0-57EB-4019-98BF-E7F87FDB554A}"/>
              </a:ext>
            </a:extLst>
          </p:cNvPr>
          <p:cNvSpPr>
            <a:spLocks noGrp="1"/>
          </p:cNvSpPr>
          <p:nvPr/>
        </p:nvSpPr>
        <p:spPr>
          <a:xfrm>
            <a:off x="685800" y="3857625"/>
            <a:ext cx="72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rPr>
              <a:t>00:45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784245E4-2730-4607-BAF8-5E1618AB5648}"/>
              </a:ext>
            </a:extLst>
          </p:cNvPr>
          <p:cNvSpPr>
            <a:spLocks noGrp="1"/>
          </p:cNvSpPr>
          <p:nvPr/>
        </p:nvSpPr>
        <p:spPr>
          <a:xfrm>
            <a:off x="1552575" y="3857625"/>
            <a:ext cx="0" cy="504825"/>
          </a:xfrm>
          <a:prstGeom prst="line">
            <a:avLst/>
          </a:prstGeom>
          <a:noFill/>
          <a:ln w="19050">
            <a:solidFill>
              <a:srgbClr val="2834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demo-3-heading">
            <a:extLst>
              <a:ext uri="{FF2B5EF4-FFF2-40B4-BE49-F238E27FC236}">
                <a16:creationId xmlns:a16="http://schemas.microsoft.com/office/drawing/2014/main" id="{985BF3AC-5F9D-45A8-B9E1-5ED905F670FD}"/>
              </a:ext>
            </a:extLst>
          </p:cNvPr>
          <p:cNvSpPr>
            <a:spLocks noGrp="1"/>
          </p:cNvSpPr>
          <p:nvPr/>
        </p:nvSpPr>
        <p:spPr>
          <a:xfrm>
            <a:off x="1857375" y="3810000"/>
            <a:ext cx="3333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0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Record the question</a:t>
            </a:r>
          </a:p>
        </p:txBody>
      </p:sp>
      <p:sp>
        <p:nvSpPr>
          <p:cNvPr id="19" name="demo-3-body">
            <a:extLst>
              <a:ext uri="{FF2B5EF4-FFF2-40B4-BE49-F238E27FC236}">
                <a16:creationId xmlns:a16="http://schemas.microsoft.com/office/drawing/2014/main" id="{4A7F9C26-3E52-456F-A855-7654E8C8F592}"/>
              </a:ext>
            </a:extLst>
          </p:cNvPr>
          <p:cNvSpPr>
            <a:spLocks noGrp="1"/>
          </p:cNvSpPr>
          <p:nvPr/>
        </p:nvSpPr>
        <p:spPr>
          <a:xfrm>
            <a:off x="5524500" y="3819525"/>
            <a:ext cx="5181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Show transcription, the source-grounded answer, and spoken playback.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FA12C79-F43D-431D-8647-72C704DA5127}"/>
              </a:ext>
            </a:extLst>
          </p:cNvPr>
          <p:cNvSpPr>
            <a:spLocks noGrp="1"/>
          </p:cNvSpPr>
          <p:nvPr/>
        </p:nvSpPr>
        <p:spPr>
          <a:xfrm>
            <a:off x="685800" y="4524375"/>
            <a:ext cx="10134600" cy="0"/>
          </a:xfrm>
          <a:prstGeom prst="line">
            <a:avLst/>
          </a:prstGeom>
          <a:noFill/>
          <a:ln w="9525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demo-4-time">
            <a:extLst>
              <a:ext uri="{FF2B5EF4-FFF2-40B4-BE49-F238E27FC236}">
                <a16:creationId xmlns:a16="http://schemas.microsoft.com/office/drawing/2014/main" id="{B026970A-AE21-4810-B411-19CD64A17425}"/>
              </a:ext>
            </a:extLst>
          </p:cNvPr>
          <p:cNvSpPr>
            <a:spLocks noGrp="1"/>
          </p:cNvSpPr>
          <p:nvPr/>
        </p:nvSpPr>
        <p:spPr>
          <a:xfrm>
            <a:off x="685800" y="4657725"/>
            <a:ext cx="72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rPr>
              <a:t>01:10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8D9EE9F-8AEE-4E38-A112-6F98C8F9B81B}"/>
              </a:ext>
            </a:extLst>
          </p:cNvPr>
          <p:cNvSpPr>
            <a:spLocks noGrp="1"/>
          </p:cNvSpPr>
          <p:nvPr/>
        </p:nvSpPr>
        <p:spPr>
          <a:xfrm>
            <a:off x="1552575" y="4657725"/>
            <a:ext cx="0" cy="504825"/>
          </a:xfrm>
          <a:prstGeom prst="line">
            <a:avLst/>
          </a:prstGeom>
          <a:noFill/>
          <a:ln w="19050">
            <a:solidFill>
              <a:srgbClr val="2834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demo-4-heading">
            <a:extLst>
              <a:ext uri="{FF2B5EF4-FFF2-40B4-BE49-F238E27FC236}">
                <a16:creationId xmlns:a16="http://schemas.microsoft.com/office/drawing/2014/main" id="{759B75EA-43EA-42E1-A364-DC4EE7FF6A9C}"/>
              </a:ext>
            </a:extLst>
          </p:cNvPr>
          <p:cNvSpPr>
            <a:spLocks noGrp="1"/>
          </p:cNvSpPr>
          <p:nvPr/>
        </p:nvSpPr>
        <p:spPr>
          <a:xfrm>
            <a:off x="1857375" y="4610100"/>
            <a:ext cx="3333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0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Test the boundary</a:t>
            </a:r>
          </a:p>
        </p:txBody>
      </p:sp>
      <p:sp>
        <p:nvSpPr>
          <p:cNvPr id="24" name="demo-4-body">
            <a:extLst>
              <a:ext uri="{FF2B5EF4-FFF2-40B4-BE49-F238E27FC236}">
                <a16:creationId xmlns:a16="http://schemas.microsoft.com/office/drawing/2014/main" id="{84B95C84-CE83-43AE-A915-40EEA6574FF1}"/>
              </a:ext>
            </a:extLst>
          </p:cNvPr>
          <p:cNvSpPr>
            <a:spLocks noGrp="1"/>
          </p:cNvSpPr>
          <p:nvPr/>
        </p:nvSpPr>
        <p:spPr>
          <a:xfrm>
            <a:off x="5524500" y="4619625"/>
            <a:ext cx="5181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Ask: “What is the Series B valuation?”</a:t>
            </a:r>
          </a:p>
          <a:p>
            <a:pPr algn="l">
              <a:defRPr sz="150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Show the supported decline.</a:t>
            </a:r>
          </a:p>
        </p:txBody>
      </p:sp>
      <p:sp>
        <p:nvSpPr>
          <p:cNvPr id="25" name="demo-prereq-surface">
            <a:extLst>
              <a:ext uri="{FF2B5EF4-FFF2-40B4-BE49-F238E27FC236}">
                <a16:creationId xmlns:a16="http://schemas.microsoft.com/office/drawing/2014/main" id="{B6575710-6478-4703-9EC8-B9164F3A1722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0134600" cy="438150"/>
          </a:xfrm>
          <a:prstGeom prst="roundRect">
            <a:avLst>
              <a:gd name="adj" fmla="val 26087"/>
            </a:avLst>
          </a:prstGeom>
          <a:solidFill>
            <a:srgbClr val="121A37"/>
          </a:solidFill>
          <a:ln w="9525">
            <a:solidFill>
              <a:srgbClr val="2834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demo-prereq">
            <a:extLst>
              <a:ext uri="{FF2B5EF4-FFF2-40B4-BE49-F238E27FC236}">
                <a16:creationId xmlns:a16="http://schemas.microsoft.com/office/drawing/2014/main" id="{898E8D4B-9BF3-4D83-B751-B5C02286CC1D}"/>
              </a:ext>
            </a:extLst>
          </p:cNvPr>
          <p:cNvSpPr>
            <a:spLocks noGrp="1"/>
          </p:cNvSpPr>
          <p:nvPr/>
        </p:nvSpPr>
        <p:spPr>
          <a:xfrm>
            <a:off x="904875" y="5743575"/>
            <a:ext cx="9239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A6E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6E8FF"/>
                </a:solidFill>
                <a:latin typeface="Helvetica Neue"/>
                <a:ea typeface="Helvetica Neue"/>
                <a:cs typeface="Helvetica Neue"/>
              </a:rPr>
              <a:t>Before presenting: configure Hugging Face transcription and one speech provider.</a:t>
            </a:r>
          </a:p>
        </p:txBody>
      </p:sp>
    </p:spTree>
    <p:extLst>
      <p:ext uri="{BB962C8B-B14F-4D97-AF65-F5344CB8AC3E}">
        <p14:creationId xmlns:p14="http://schemas.microsoft.com/office/powerpoint/2010/main" val="619137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30C98B1C-AC85-49F3-9AE8-EE0122178B92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820400" cy="0"/>
          </a:xfrm>
          <a:prstGeom prst="line">
            <a:avLst/>
          </a:prstGeom>
          <a:noFill/>
          <a:ln w="9525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lide-6-brand">
            <a:extLst>
              <a:ext uri="{FF2B5EF4-FFF2-40B4-BE49-F238E27FC236}">
                <a16:creationId xmlns:a16="http://schemas.microsoft.com/office/drawing/2014/main" id="{E872C600-9107-48EF-98D3-36EA02534F23}"/>
              </a:ext>
            </a:extLst>
          </p:cNvPr>
          <p:cNvSpPr>
            <a:spLocks noGrp="1"/>
          </p:cNvSpPr>
          <p:nvPr/>
        </p:nvSpPr>
        <p:spPr>
          <a:xfrm>
            <a:off x="685800" y="20955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0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rPr>
              <a:t>PITCHROOM AI</a:t>
            </a:r>
          </a:p>
        </p:txBody>
      </p:sp>
      <p:sp>
        <p:nvSpPr>
          <p:cNvPr id="3" name="slide-6-folio">
            <a:extLst>
              <a:ext uri="{FF2B5EF4-FFF2-40B4-BE49-F238E27FC236}">
                <a16:creationId xmlns:a16="http://schemas.microsoft.com/office/drawing/2014/main" id="{CDB96FCC-F583-42F5-B8D0-B49515A5E10A}"/>
              </a:ext>
            </a:extLst>
          </p:cNvPr>
          <p:cNvSpPr>
            <a:spLocks noGrp="1"/>
          </p:cNvSpPr>
          <p:nvPr/>
        </p:nvSpPr>
        <p:spPr>
          <a:xfrm>
            <a:off x="10810875" y="209550"/>
            <a:ext cx="6953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1">
                <a:solidFill>
                  <a:srgbClr val="717A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7A9E"/>
                </a:solidFill>
                <a:latin typeface="Helvetica Neue"/>
                <a:ea typeface="Helvetica Neue"/>
                <a:cs typeface="Helvetica Neue"/>
              </a:rPr>
              <a:t>06 / 06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385D5157-2879-4BE5-8A2E-54AF9200A40E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34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From prototype to trusted workspace</a:t>
            </a: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1183C45D-C73A-4AE0-A525-8D93F94838E9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The next build turns one demo source into a durable pitch practice environment</a:t>
            </a:r>
          </a:p>
        </p:txBody>
      </p:sp>
      <p:sp>
        <p:nvSpPr>
          <p:cNvPr id="6" name="roadmap-today-label">
            <a:extLst>
              <a:ext uri="{FF2B5EF4-FFF2-40B4-BE49-F238E27FC236}">
                <a16:creationId xmlns:a16="http://schemas.microsoft.com/office/drawing/2014/main" id="{D3C7B965-A350-4D9B-BFCA-5FDE3027B0DA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rPr>
              <a:t>Today</a:t>
            </a:r>
          </a:p>
        </p:txBody>
      </p:sp>
      <p:sp>
        <p:nvSpPr>
          <p:cNvPr id="7" name="roadmap-today-items">
            <a:extLst>
              <a:ext uri="{FF2B5EF4-FFF2-40B4-BE49-F238E27FC236}">
                <a16:creationId xmlns:a16="http://schemas.microsoft.com/office/drawing/2014/main" id="{245B1C27-2A63-4B72-9D7E-64449F3ECCF9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39433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950" b="1">
                <a:solidFill>
                  <a:srgbClr val="D5DA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5DAF5"/>
                </a:solidFill>
                <a:latin typeface="Helvetica Neue"/>
                <a:ea typeface="Helvetica Neue"/>
                <a:cs typeface="Helvetica Neue"/>
              </a:rPr>
              <a:t>A single active source</a:t>
            </a:r>
          </a:p>
          <a:p>
            <a:pPr algn="l">
              <a:defRPr sz="1950" b="1">
                <a:solidFill>
                  <a:srgbClr val="D5DA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5DAF5"/>
                </a:solidFill>
                <a:latin typeface="Helvetica Neue"/>
                <a:ea typeface="Helvetica Neue"/>
                <a:cs typeface="Helvetica Neue"/>
              </a:rPr>
              <a:t>Turn-based voice workflow</a:t>
            </a:r>
          </a:p>
          <a:p>
            <a:pPr algn="l">
              <a:defRPr sz="1950" b="1">
                <a:solidFill>
                  <a:srgbClr val="D5DA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5DAF5"/>
                </a:solidFill>
                <a:latin typeface="Helvetica Neue"/>
                <a:ea typeface="Helvetica Neue"/>
                <a:cs typeface="Helvetica Neue"/>
              </a:rPr>
              <a:t>Text-first document support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307378F2-4430-4EBC-89CD-68AF16A4BAE6}"/>
              </a:ext>
            </a:extLst>
          </p:cNvPr>
          <p:cNvSpPr>
            <a:spLocks noGrp="1"/>
          </p:cNvSpPr>
          <p:nvPr/>
        </p:nvSpPr>
        <p:spPr>
          <a:xfrm>
            <a:off x="5257800" y="2228850"/>
            <a:ext cx="0" cy="2609850"/>
          </a:xfrm>
          <a:prstGeom prst="line">
            <a:avLst/>
          </a:prstGeom>
          <a:noFill/>
          <a:ln w="9525">
            <a:solidFill>
              <a:srgbClr val="2834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admap-next-label">
            <a:extLst>
              <a:ext uri="{FF2B5EF4-FFF2-40B4-BE49-F238E27FC236}">
                <a16:creationId xmlns:a16="http://schemas.microsoft.com/office/drawing/2014/main" id="{EA3CD03B-5178-44E4-B589-72A9DEB4BE04}"/>
              </a:ext>
            </a:extLst>
          </p:cNvPr>
          <p:cNvSpPr>
            <a:spLocks noGrp="1"/>
          </p:cNvSpPr>
          <p:nvPr/>
        </p:nvSpPr>
        <p:spPr>
          <a:xfrm>
            <a:off x="5886450" y="226695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A1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18DFF"/>
                </a:solidFill>
                <a:latin typeface="Helvetica Neue"/>
                <a:ea typeface="Helvetica Neue"/>
                <a:cs typeface="Helvetica Neue"/>
              </a:rPr>
              <a:t>Proposed next build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24773E1-A3A0-4369-9B39-385ADBA45371}"/>
              </a:ext>
            </a:extLst>
          </p:cNvPr>
          <p:cNvSpPr>
            <a:spLocks noGrp="1"/>
          </p:cNvSpPr>
          <p:nvPr/>
        </p:nvSpPr>
        <p:spPr>
          <a:xfrm>
            <a:off x="5905500" y="2781300"/>
            <a:ext cx="114300" cy="114300"/>
          </a:xfrm>
          <a:prstGeom prst="ellipse">
            <a:avLst/>
          </a:prstGeom>
          <a:solidFill>
            <a:srgbClr val="A1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oadmap-next-1">
            <a:extLst>
              <a:ext uri="{FF2B5EF4-FFF2-40B4-BE49-F238E27FC236}">
                <a16:creationId xmlns:a16="http://schemas.microsoft.com/office/drawing/2014/main" id="{FD57A2A0-136F-4B4B-82A1-9D0649B7FC8B}"/>
              </a:ext>
            </a:extLst>
          </p:cNvPr>
          <p:cNvSpPr>
            <a:spLocks noGrp="1"/>
          </p:cNvSpPr>
          <p:nvPr/>
        </p:nvSpPr>
        <p:spPr>
          <a:xfrm>
            <a:off x="6238875" y="273367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Authenticated workspaces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0429008-9FBD-4BAD-B115-05C9544CFDB2}"/>
              </a:ext>
            </a:extLst>
          </p:cNvPr>
          <p:cNvSpPr>
            <a:spLocks noGrp="1"/>
          </p:cNvSpPr>
          <p:nvPr/>
        </p:nvSpPr>
        <p:spPr>
          <a:xfrm>
            <a:off x="5905500" y="3305175"/>
            <a:ext cx="114300" cy="114300"/>
          </a:xfrm>
          <a:prstGeom prst="ellipse">
            <a:avLst/>
          </a:prstGeom>
          <a:solidFill>
            <a:srgbClr val="A1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oadmap-next-2">
            <a:extLst>
              <a:ext uri="{FF2B5EF4-FFF2-40B4-BE49-F238E27FC236}">
                <a16:creationId xmlns:a16="http://schemas.microsoft.com/office/drawing/2014/main" id="{DD91E2E9-7231-4AE7-9862-DF04F407E347}"/>
              </a:ext>
            </a:extLst>
          </p:cNvPr>
          <p:cNvSpPr>
            <a:spLocks noGrp="1"/>
          </p:cNvSpPr>
          <p:nvPr/>
        </p:nvSpPr>
        <p:spPr>
          <a:xfrm>
            <a:off x="6238875" y="32575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Versioned pitch sources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6566122-2163-4167-8AFB-29406F759D65}"/>
              </a:ext>
            </a:extLst>
          </p:cNvPr>
          <p:cNvSpPr>
            <a:spLocks noGrp="1"/>
          </p:cNvSpPr>
          <p:nvPr/>
        </p:nvSpPr>
        <p:spPr>
          <a:xfrm>
            <a:off x="5905500" y="3829050"/>
            <a:ext cx="114300" cy="114300"/>
          </a:xfrm>
          <a:prstGeom prst="ellipse">
            <a:avLst/>
          </a:prstGeom>
          <a:solidFill>
            <a:srgbClr val="A1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oadmap-next-3">
            <a:extLst>
              <a:ext uri="{FF2B5EF4-FFF2-40B4-BE49-F238E27FC236}">
                <a16:creationId xmlns:a16="http://schemas.microsoft.com/office/drawing/2014/main" id="{E0AE6380-B6B1-4D9E-9C53-365934AACF8B}"/>
              </a:ext>
            </a:extLst>
          </p:cNvPr>
          <p:cNvSpPr>
            <a:spLocks noGrp="1"/>
          </p:cNvSpPr>
          <p:nvPr/>
        </p:nvSpPr>
        <p:spPr>
          <a:xfrm>
            <a:off x="6238875" y="378142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Encrypted storage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8E7C6FE-D5DC-414D-8B6E-CBF44F96381E}"/>
              </a:ext>
            </a:extLst>
          </p:cNvPr>
          <p:cNvSpPr>
            <a:spLocks noGrp="1"/>
          </p:cNvSpPr>
          <p:nvPr/>
        </p:nvSpPr>
        <p:spPr>
          <a:xfrm>
            <a:off x="5905500" y="4352925"/>
            <a:ext cx="114300" cy="114300"/>
          </a:xfrm>
          <a:prstGeom prst="ellipse">
            <a:avLst/>
          </a:prstGeom>
          <a:solidFill>
            <a:srgbClr val="A1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admap-next-4">
            <a:extLst>
              <a:ext uri="{FF2B5EF4-FFF2-40B4-BE49-F238E27FC236}">
                <a16:creationId xmlns:a16="http://schemas.microsoft.com/office/drawing/2014/main" id="{51CD4B52-F313-461A-BCD2-17AF917AFC76}"/>
              </a:ext>
            </a:extLst>
          </p:cNvPr>
          <p:cNvSpPr>
            <a:spLocks noGrp="1"/>
          </p:cNvSpPr>
          <p:nvPr/>
        </p:nvSpPr>
        <p:spPr>
          <a:xfrm>
            <a:off x="6238875" y="43053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Visual document understanding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8A27F4B3-F77C-4FF5-8FBA-2109C8433476}"/>
              </a:ext>
            </a:extLst>
          </p:cNvPr>
          <p:cNvSpPr>
            <a:spLocks noGrp="1"/>
          </p:cNvSpPr>
          <p:nvPr/>
        </p:nvSpPr>
        <p:spPr>
          <a:xfrm>
            <a:off x="685800" y="5286375"/>
            <a:ext cx="10134600" cy="0"/>
          </a:xfrm>
          <a:prstGeom prst="line">
            <a:avLst/>
          </a:prstGeom>
          <a:noFill/>
          <a:ln w="9525">
            <a:solidFill>
              <a:srgbClr val="2834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close-brand">
            <a:extLst>
              <a:ext uri="{FF2B5EF4-FFF2-40B4-BE49-F238E27FC236}">
                <a16:creationId xmlns:a16="http://schemas.microsoft.com/office/drawing/2014/main" id="{4D1DF585-5AE0-4550-B463-987529F3B6AA}"/>
              </a:ext>
            </a:extLst>
          </p:cNvPr>
          <p:cNvSpPr>
            <a:spLocks noGrp="1"/>
          </p:cNvSpPr>
          <p:nvPr/>
        </p:nvSpPr>
        <p:spPr>
          <a:xfrm>
            <a:off x="685800" y="56007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725" b="1">
                <a:solidFill>
                  <a:srgbClr val="A6E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A6E8FF"/>
                </a:solidFill>
                <a:latin typeface="Helvetica Neue"/>
                <a:ea typeface="Helvetica Neue"/>
                <a:cs typeface="Helvetica Neue"/>
              </a:rPr>
              <a:t>Pitchroom AI</a:t>
            </a:r>
          </a:p>
        </p:txBody>
      </p:sp>
      <p:sp>
        <p:nvSpPr>
          <p:cNvPr id="20" name="close-line">
            <a:extLst>
              <a:ext uri="{FF2B5EF4-FFF2-40B4-BE49-F238E27FC236}">
                <a16:creationId xmlns:a16="http://schemas.microsoft.com/office/drawing/2014/main" id="{EC2B65E9-9361-4805-B1CC-1CD99D333ECF}"/>
              </a:ext>
            </a:extLst>
          </p:cNvPr>
          <p:cNvSpPr>
            <a:spLocks noGrp="1"/>
          </p:cNvSpPr>
          <p:nvPr/>
        </p:nvSpPr>
        <p:spPr>
          <a:xfrm>
            <a:off x="3276600" y="5562600"/>
            <a:ext cx="68580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Every answer, from the deck.</a:t>
            </a:r>
          </a:p>
        </p:txBody>
      </p:sp>
    </p:spTree>
    <p:extLst>
      <p:ext uri="{BB962C8B-B14F-4D97-AF65-F5344CB8AC3E}">
        <p14:creationId xmlns:p14="http://schemas.microsoft.com/office/powerpoint/2010/main" val="95372748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3c76ce46-357f-46de-88d6-77b9bbb83c46}" enabled="1" method="Privileged" siteId="{4e2c6054-71cb-48f1-bd6c-3a9705aca71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722</Words>
  <Application>Microsoft Macintosh PowerPoint</Application>
  <DocSecurity>0</DocSecurity>
  <PresentationFormat>Widescreen</PresentationFormat>
  <Paragraphs>100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Arjeet Anand</cp:lastModifiedBy>
  <cp:revision>1</cp:revision>
  <dcterms:created xsi:type="dcterms:W3CDTF">2026-09-13T07:57:11Z</dcterms:created>
  <dcterms:modified xsi:type="dcterms:W3CDTF">2026-10-10T05:13:44Z</dcterms:modified>
</cp:coreProperties>
</file>